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37160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232C57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169164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2B356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201168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0" y="2331720"/>
            <a:ext cx="2286000" cy="292608"/>
          </a:xfrm>
          <a:prstGeom prst="roundRect">
            <a:avLst>
              <a:gd name="adj" fmla="val 15625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8275320" y="2898648"/>
            <a:ext cx="2286000" cy="292608"/>
          </a:xfrm>
          <a:prstGeom prst="roundRect">
            <a:avLst>
              <a:gd name="adj" fmla="val 15625"/>
            </a:avLst>
          </a:prstGeom>
          <a:solidFill>
            <a:srgbClr val="3C4780"/>
          </a:solidFill>
          <a:ln/>
        </p:spPr>
      </p:sp>
      <p:sp>
        <p:nvSpPr>
          <p:cNvPr id="7" name="Shape 5"/>
          <p:cNvSpPr/>
          <p:nvPr/>
        </p:nvSpPr>
        <p:spPr>
          <a:xfrm>
            <a:off x="8275320" y="3465576"/>
            <a:ext cx="2286000" cy="292608"/>
          </a:xfrm>
          <a:prstGeom prst="roundRect">
            <a:avLst>
              <a:gd name="adj" fmla="val 15625"/>
            </a:avLst>
          </a:prstGeom>
          <a:solidFill>
            <a:srgbClr val="3C4780"/>
          </a:solidFill>
          <a:ln/>
        </p:spPr>
      </p:sp>
      <p:sp>
        <p:nvSpPr>
          <p:cNvPr id="8" name="Shape 6"/>
          <p:cNvSpPr/>
          <p:nvPr/>
        </p:nvSpPr>
        <p:spPr>
          <a:xfrm>
            <a:off x="8275320" y="4032504"/>
            <a:ext cx="2286000" cy="292608"/>
          </a:xfrm>
          <a:prstGeom prst="roundRect">
            <a:avLst>
              <a:gd name="adj" fmla="val 15625"/>
            </a:avLst>
          </a:prstGeom>
          <a:solidFill>
            <a:srgbClr val="3C478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YMCA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66928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Notion-style Collaborative Workspace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Components · Technology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0.1  ·  Released 11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27048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27048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YMCA is and who it serves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17373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020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96328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96328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collaboration, publishing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044952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328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27048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27048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6208" y="3044952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328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96328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96328" y="3593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tools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352544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636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27048" y="45354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27048" y="4901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36208" y="4352544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636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96328" y="45354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&amp; Security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96328" y="49011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Neon, GitHub Pages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YMCA?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is a self-hosted, block-based knowledge workspace inspired by Notion.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nested pages, write with a rich block editor, organise content with tags, and collaborate inside shared workspaces with role-based access. Pages can be published as read-only public links, and every edit is captured in a full revision history.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as a modern TypeScript monorepo and deployed on managed cloud services.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62672" y="2075688"/>
            <a:ext cx="109728" cy="658368"/>
          </a:xfrm>
          <a:prstGeom prst="roundRect">
            <a:avLst>
              <a:gd name="adj" fmla="val 41667"/>
            </a:avLst>
          </a:prstGeom>
          <a:solidFill>
            <a:srgbClr val="3B5BDB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23500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block editor with a slash-command menu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320040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62672" y="3493008"/>
            <a:ext cx="109728" cy="658368"/>
          </a:xfrm>
          <a:prstGeom prst="roundRect">
            <a:avLst>
              <a:gd name="adj" fmla="val 41667"/>
            </a:avLst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09560" y="37673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pages, tags, search and workspaces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461772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62672" y="4910328"/>
            <a:ext cx="109728" cy="658368"/>
          </a:xfrm>
          <a:prstGeom prst="roundRect">
            <a:avLst>
              <a:gd name="adj" fmla="val 41667"/>
            </a:avLst>
          </a:prstGeom>
          <a:solidFill>
            <a:srgbClr val="3B5BDB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4800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5184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sharing, publishing and history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624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Editor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menu, headings, to-do, callouts, code, images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2624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Pages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36008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 page tree for fast navigation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6448" y="178308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307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0768" y="2624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Workspaces &amp; Roles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30768" y="2953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Admin, Member and Guest access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44531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to Web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41248" y="4782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read-only links with selectable themes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61688" y="361188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63600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36008" y="44531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History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636008" y="4782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versioned, with one-click restore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56448" y="361188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30768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43076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30768" y="44531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Tags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430768" y="4782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and colour-coded tags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 Editor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TipTap / ProseMirror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“/” anywhere to open a command menu and insert any block — no toolbar hunting.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autosave with optimistic-concurrency conflict handling.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drag images and attach documents (up to 1 GB).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1783080"/>
            <a:ext cx="46634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command…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2514600"/>
            <a:ext cx="4297680" cy="457200"/>
          </a:xfrm>
          <a:prstGeom prst="roundRect">
            <a:avLst>
              <a:gd name="adj" fmla="val 10000"/>
            </a:avLst>
          </a:prstGeom>
          <a:solidFill>
            <a:srgbClr val="F3F6FD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0" y="256032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5603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/heading1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5548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30632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30632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/to-dolist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55480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356616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3566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/callout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5548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406908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40690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/quote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5554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457200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4572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/codeblock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55480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507492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50749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5056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/divider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555480" y="5056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Workspaces, Roles &amp; Permissions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controlled at two levels — the workspace and the individual page.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377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roles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86968" y="29260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70048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the workspace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3584448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 and content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" y="4242816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2428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0048" y="4242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pages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" y="4901184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49011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048" y="4901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invite-only access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21945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377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roles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64808" y="29260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47888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sharing &amp; publishing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64808" y="3584448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64808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47888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edit the page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64808" y="4242816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2428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47888" y="42428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64808" y="4901184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49011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47888" y="4901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specific user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Publish, Revisions &amp; Search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74720" cy="374904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to Web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9536" y="2935224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28072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public read-only link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9536" y="3685032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557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multiple themes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9536" y="4434840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4306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Unpublish at any 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1828800"/>
            <a:ext cx="3474720" cy="374904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15968" y="182880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History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08576" y="2935224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28072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is versioned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08576" y="3685032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3557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any previous version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08576" y="4434840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3" name="Text 21"/>
          <p:cNvSpPr/>
          <p:nvPr/>
        </p:nvSpPr>
        <p:spPr>
          <a:xfrm>
            <a:off x="4882896" y="4306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pruned to latest 50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65008" y="1828800"/>
            <a:ext cx="3474720" cy="374904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182880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Tags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57616" y="2935224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8" name="Text 26"/>
          <p:cNvSpPr/>
          <p:nvPr/>
        </p:nvSpPr>
        <p:spPr>
          <a:xfrm>
            <a:off x="8631936" y="28072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full-text search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57616" y="3685032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30" name="Text 28"/>
          <p:cNvSpPr/>
          <p:nvPr/>
        </p:nvSpPr>
        <p:spPr>
          <a:xfrm>
            <a:off x="8631936" y="3557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tags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357616" y="4434840"/>
            <a:ext cx="146304" cy="146304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32" name="Text 30"/>
          <p:cNvSpPr/>
          <p:nvPr/>
        </p:nvSpPr>
        <p:spPr>
          <a:xfrm>
            <a:off x="8631936" y="4306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document hub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design — a browser app, a stateless API, and a managed database.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0632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03020" y="4023360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130302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697480"/>
            <a:ext cx="30632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+ Prisma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89220" y="4023360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518922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58200" y="2697480"/>
            <a:ext cx="30632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582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58200" y="3566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75420" y="4023360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3B5BDB"/>
          </a:solidFill>
          <a:ln/>
        </p:spPr>
      </p:sp>
      <p:sp>
        <p:nvSpPr>
          <p:cNvPr id="21" name="Text 19"/>
          <p:cNvSpPr/>
          <p:nvPr/>
        </p:nvSpPr>
        <p:spPr>
          <a:xfrm>
            <a:off x="9075420" y="4023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94760" y="3611880"/>
            <a:ext cx="7315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3611880"/>
            <a:ext cx="7315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118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cookies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980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/ SQL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5212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 and API run on different origins; a secure session cookie plus a CSRF token authenticate every request.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2938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9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30168" y="1783080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Vite · Tailwind CSS · TipTap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2491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30168" y="2578608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TypeScript · Fastify · Zod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374136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204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30168" y="3374136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· Prisma 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4169664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31596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30168" y="4169664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sessions · CSRF · bcrypt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965192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11149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1114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30168" y="4965192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· Render · Neon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5760720"/>
            <a:ext cx="11055096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590702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9070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30168" y="5760720"/>
            <a:ext cx="7763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 · GitHub Actions (CI/CD)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React Web App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React application that renders the workspace UI and the block editor.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by Vite, styled with Tailwind CSS, and deployed as static files to GitHub Pages.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783080"/>
            <a:ext cx="4846320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2002536"/>
            <a:ext cx="310896" cy="3108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856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5236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UI and 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624328"/>
            <a:ext cx="4846320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2843784"/>
            <a:ext cx="310896" cy="3108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52360" y="3008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and dev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465576"/>
            <a:ext cx="4846320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3685032"/>
            <a:ext cx="310896" cy="3108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3538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52360" y="3849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&amp;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4306824"/>
            <a:ext cx="4846320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4526280"/>
            <a:ext cx="310896" cy="3108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4379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editor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52360" y="4690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and slash commands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5148072"/>
            <a:ext cx="4846320" cy="749808"/>
          </a:xfrm>
          <a:prstGeom prst="roundRect">
            <a:avLst>
              <a:gd name="adj" fmla="val 1097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5367528"/>
            <a:ext cx="310896" cy="3108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5221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(7 languages)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52360" y="5532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Fastify API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stateless HTTP API. Requests are validated with Zod schemas and data access goes through Prisma. Routes are grouped by domain: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862072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606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2606040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862072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2606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content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2606040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93608" y="2862072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15" name="Text 13"/>
          <p:cNvSpPr/>
          <p:nvPr/>
        </p:nvSpPr>
        <p:spPr>
          <a:xfrm>
            <a:off x="8567928" y="2606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730752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986784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" y="373075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permissions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5968" y="3730752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44568" y="3986784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373075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65008" y="3730752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93608" y="3986784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24" name="Text 22"/>
          <p:cNvSpPr/>
          <p:nvPr/>
        </p:nvSpPr>
        <p:spPr>
          <a:xfrm>
            <a:off x="8567928" y="373075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855464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5528" y="5111496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848" y="485546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15968" y="4855464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44568" y="5111496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485546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65008" y="4855464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93608" y="5111496"/>
            <a:ext cx="109728" cy="365760"/>
          </a:xfrm>
          <a:prstGeom prst="roundRect">
            <a:avLst>
              <a:gd name="adj" fmla="val 33333"/>
            </a:avLst>
          </a:prstGeom>
          <a:solidFill>
            <a:srgbClr val="3B5BDB"/>
          </a:solidFill>
          <a:ln/>
        </p:spPr>
      </p:sp>
      <p:sp>
        <p:nvSpPr>
          <p:cNvPr id="33" name="Text 31"/>
          <p:cNvSpPr/>
          <p:nvPr/>
        </p:nvSpPr>
        <p:spPr>
          <a:xfrm>
            <a:off x="8567928" y="485546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— Neon PostgreSQL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is serverless PostgreSQL.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connects through a pooled endpoint for efficient concurrent access, while database migrations use a direct connection.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provides the type-safe schema, migrations and queries.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709160" cy="13716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23957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connection  ·  ?pgbouncer=true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429000"/>
            <a:ext cx="4709160" cy="13716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Migrate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39959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32420" y="50749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93242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12580" y="3200400"/>
            <a:ext cx="0" cy="228600"/>
          </a:xfrm>
          <a:prstGeom prst="line">
            <a:avLst/>
          </a:prstGeom>
          <a:noFill/>
          <a:ln w="25400">
            <a:solidFill>
              <a:srgbClr val="7482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12580" y="4800600"/>
            <a:ext cx="0" cy="274320"/>
          </a:xfrm>
          <a:prstGeom prst="line">
            <a:avLst/>
          </a:prstGeom>
          <a:noFill/>
          <a:ln w="25400">
            <a:solidFill>
              <a:srgbClr val="7482A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core entities. Pages are self-referential — a page can have a parent page, forming the nested tree.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" y="228600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" y="22860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39212" y="228600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30652" y="22860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0348" y="228600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1788" y="22860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01484" y="228600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92924" y="22860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WorkspaceMember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532620" y="2286000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24060" y="22860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" y="3438144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" y="343814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PageRevision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39212" y="3438144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30652" y="343814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PagePermission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70348" y="3438144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1788" y="343814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PageAttachment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01484" y="3438144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92924" y="343814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InviteToken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32620" y="3438144"/>
            <a:ext cx="204825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24060" y="343814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PasswordResetToken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51206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stored as JSONB · soft deletes (deletedAt) power the Trash · every page edit writes a PageRevision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&amp; Deployment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7452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9536" y="315468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React build published to the gh-pages branch, served under /ymca/.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15968" y="187452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187452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0288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8576" y="315468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Fastify service, deployed from the main branch with environment secrets.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65008" y="187452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5008" y="187452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9328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57616" y="315468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serverless PostgreSQL, connected via pooled and direct URLs.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Request Flow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9304" y="2633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289304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04088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7033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credentials to the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70048" y="3337560"/>
            <a:ext cx="137160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25496" y="237744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2633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62656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issued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62656" y="37033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an HttpOnly session cookie + CSRF token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28616" y="3337560"/>
            <a:ext cx="137160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84064" y="237744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2633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221224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21224" y="37033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sends the cookie and CSRF header with each call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87184" y="3337560"/>
            <a:ext cx="137160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42632" y="237744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2633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65008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479792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79792" y="37033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checks the session and page permissions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45752" y="3337560"/>
            <a:ext cx="137160" cy="0"/>
          </a:xfrm>
          <a:prstGeom prst="line">
            <a:avLst/>
          </a:prstGeom>
          <a:noFill/>
          <a:ln w="2540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2377440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23576" y="2633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0323576" y="2633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9738360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38360" y="37033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data is returned to the app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48920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web and API are on different origins, the cookie uses SameSite=None with Secure.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19110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44168" y="22219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before storage; HttpOnly cookies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81928" y="1783080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020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59168" y="19110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59168" y="22219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required on every mutating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770632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0083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44168" y="28986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44168" y="32095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a configurable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81928" y="2770632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0083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59168" y="28986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59168" y="32095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limits on authentication endpoints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3758184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995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44168" y="38862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344168" y="41970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checks on every page operation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81928" y="3758184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995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59168" y="38862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sanitisation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59168" y="41970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rendering of published pages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745736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4983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44168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344168" y="51846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kept in environment variables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1928" y="4745736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4983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59168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059168" y="51846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on every request body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 &amp; Project Structure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repository, managed with pnpm workspaces — shared code and consistent tooling across apps.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317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apps/web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98848" y="2331720"/>
            <a:ext cx="6848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UI and editor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081528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815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98848" y="3081528"/>
            <a:ext cx="6848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backend — routes, auth, Prisma schema &amp; migrations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831336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313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apps/desktop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98848" y="3831336"/>
            <a:ext cx="6848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desktop wrapper (planned)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581144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5811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packages/shared-types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98848" y="4581144"/>
            <a:ext cx="6848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TypeScript 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330952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3309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packages/shared-config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98848" y="5330952"/>
            <a:ext cx="6848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Integration &amp; Delivery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9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the main branch runs automated checks and deployments through GitHub Actions.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3796" y="26517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2396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8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2396" y="3310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04388" y="3337560"/>
            <a:ext cx="310896" cy="0"/>
          </a:xfrm>
          <a:prstGeom prst="line">
            <a:avLst/>
          </a:prstGeom>
          <a:noFill/>
          <a:ln w="3175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88436" y="26517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7036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8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17036" y="3310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typecheck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39028" y="3337560"/>
            <a:ext cx="310896" cy="0"/>
          </a:xfrm>
          <a:prstGeom prst="line">
            <a:avLst/>
          </a:prstGeom>
          <a:noFill/>
          <a:ln w="3175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23076" y="26517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51676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8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51676" y="3310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→ Pages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773668" y="3337560"/>
            <a:ext cx="310896" cy="0"/>
          </a:xfrm>
          <a:prstGeom prst="line">
            <a:avLst/>
          </a:prstGeom>
          <a:noFill/>
          <a:ln w="31750">
            <a:solidFill>
              <a:srgbClr val="3B5BD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7716" y="265176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AAB4D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86316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8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86316" y="3310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API → Render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 are applied with Prisma Migrate using the direct Neon connection.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YMCA — Solution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73384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75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965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blocks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81328" y="23134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collapsible toggle blocks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81928" y="178308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2075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96328" y="1965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96328" y="23134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attachments to S3 / Cloudflare R2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97180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264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1546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collaboration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81328" y="35021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editing with Yjs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1928" y="297180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3264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96328" y="31546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&amp; mentions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96328" y="35021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and reference pages inline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16052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4453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81328" y="4343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481328" y="46908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Tauri wrapper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1928" y="4160520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3F6FD"/>
          </a:solidFill>
          <a:ln w="12700">
            <a:solidFill>
              <a:srgbClr val="DCE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56248" y="44531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55624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96328" y="4343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Body-text search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196328" y="46908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8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inside page content, not just titles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92024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232C57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2240280"/>
            <a:ext cx="2743200" cy="356616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60604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3246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3C478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388620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3C478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modern, secure workspace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292608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TypeScript monorepo — React web app and Fastify API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 on GitHub Pages, Render and Neon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strong authentication and CSRF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extensible block editor with autosave and history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66928" y="5669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YMCA — Solution Overview</dc:title>
  <dc:subject>PptxGenJS Presentation</dc:subject>
  <dc:creator>YMCA</dc:creator>
  <cp:lastModifiedBy>YMCA</cp:lastModifiedBy>
  <cp:revision>1</cp:revision>
  <dcterms:created xsi:type="dcterms:W3CDTF">2026-07-11T16:23:22Z</dcterms:created>
  <dcterms:modified xsi:type="dcterms:W3CDTF">2026-07-11T16:23:22Z</dcterms:modified>
</cp:coreProperties>
</file>